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12192000"/>
  <p:embeddedFontLst>
    <p:embeddedFont>
      <p:font typeface="Inter SemiBold"/>
      <p:regular r:id="rId17"/>
      <p:bold r:id="rId18"/>
      <p:italic r:id="rId19"/>
      <p:boldItalic r:id="rId20"/>
    </p:embeddedFont>
    <p:embeddedFont>
      <p:font typeface="Inter Medium"/>
      <p:regular r:id="rId21"/>
      <p:bold r:id="rId22"/>
      <p:italic r:id="rId23"/>
      <p:boldItalic r:id="rId24"/>
    </p:embeddedFont>
    <p:embeddedFont>
      <p:font typeface="Inter Black"/>
      <p:bold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boldItalic.fntdata"/><Relationship Id="rId22" Type="http://schemas.openxmlformats.org/officeDocument/2006/relationships/font" Target="fonts/InterMedium-bold.fntdata"/><Relationship Id="rId21" Type="http://schemas.openxmlformats.org/officeDocument/2006/relationships/font" Target="fonts/InterMedium-regular.fntdata"/><Relationship Id="rId24" Type="http://schemas.openxmlformats.org/officeDocument/2006/relationships/font" Target="fonts/InterMedium-boldItalic.fntdata"/><Relationship Id="rId23" Type="http://schemas.openxmlformats.org/officeDocument/2006/relationships/font" Target="fonts/InterMedium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InterBlack-boldItalic.fntdata"/><Relationship Id="rId25" Type="http://schemas.openxmlformats.org/officeDocument/2006/relationships/font" Target="fonts/InterBlack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InterSemiBold-regular.fntdata"/><Relationship Id="rId16" Type="http://schemas.openxmlformats.org/officeDocument/2006/relationships/slide" Target="slides/slide12.xml"/><Relationship Id="rId19" Type="http://schemas.openxmlformats.org/officeDocument/2006/relationships/font" Target="fonts/InterSemiBold-italic.fntdata"/><Relationship Id="rId18" Type="http://schemas.openxmlformats.org/officeDocument/2006/relationships/font" Target="fonts/Inter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8.png"/><Relationship Id="rId10" Type="http://schemas.openxmlformats.org/officeDocument/2006/relationships/image" Target="../media/image9.png"/><Relationship Id="rId13" Type="http://schemas.openxmlformats.org/officeDocument/2006/relationships/image" Target="../media/image26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30.png"/><Relationship Id="rId9" Type="http://schemas.openxmlformats.org/officeDocument/2006/relationships/image" Target="../media/image31.png"/><Relationship Id="rId14" Type="http://schemas.openxmlformats.org/officeDocument/2006/relationships/image" Target="../media/image12.png"/><Relationship Id="rId5" Type="http://schemas.openxmlformats.org/officeDocument/2006/relationships/image" Target="../media/image29.png"/><Relationship Id="rId6" Type="http://schemas.openxmlformats.org/officeDocument/2006/relationships/image" Target="../media/image3.png"/><Relationship Id="rId7" Type="http://schemas.openxmlformats.org/officeDocument/2006/relationships/image" Target="../media/image25.png"/><Relationship Id="rId8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0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44.png"/><Relationship Id="rId5" Type="http://schemas.openxmlformats.org/officeDocument/2006/relationships/image" Target="../media/image8.png"/><Relationship Id="rId6" Type="http://schemas.openxmlformats.org/officeDocument/2006/relationships/image" Target="../media/image3.png"/><Relationship Id="rId7" Type="http://schemas.openxmlformats.org/officeDocument/2006/relationships/image" Target="../media/image33.png"/><Relationship Id="rId8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9.png"/><Relationship Id="rId4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Relationship Id="rId4" Type="http://schemas.openxmlformats.org/officeDocument/2006/relationships/image" Target="../media/image1.png"/><Relationship Id="rId5" Type="http://schemas.openxmlformats.org/officeDocument/2006/relationships/image" Target="../media/image22.png"/><Relationship Id="rId6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18.png"/><Relationship Id="rId10" Type="http://schemas.openxmlformats.org/officeDocument/2006/relationships/image" Target="../media/image43.png"/><Relationship Id="rId13" Type="http://schemas.openxmlformats.org/officeDocument/2006/relationships/image" Target="../media/image26.png"/><Relationship Id="rId1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30.png"/><Relationship Id="rId9" Type="http://schemas.openxmlformats.org/officeDocument/2006/relationships/image" Target="../media/image31.png"/><Relationship Id="rId14" Type="http://schemas.openxmlformats.org/officeDocument/2006/relationships/image" Target="../media/image45.png"/><Relationship Id="rId5" Type="http://schemas.openxmlformats.org/officeDocument/2006/relationships/image" Target="../media/image29.png"/><Relationship Id="rId6" Type="http://schemas.openxmlformats.org/officeDocument/2006/relationships/image" Target="../media/image42.png"/><Relationship Id="rId7" Type="http://schemas.openxmlformats.org/officeDocument/2006/relationships/image" Target="../media/image25.png"/><Relationship Id="rId8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71488" y="803283"/>
            <a:ext cx="112491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AAE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Project Overview &amp; 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476250" y="1298250"/>
            <a:ext cx="11249100" cy="12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LiveDoc: Real-Time Intelligent Document Digitizer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476250" y="2766725"/>
            <a:ext cx="11630100" cy="9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LiveDoc goes beyond traditional scanning by utilizing deep document understanding to extract text, tables, and metadata</a:t>
            </a:r>
            <a:r>
              <a:rPr lang="en-US" sz="165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, </a:t>
            </a:r>
            <a:r>
              <a:rPr b="0" i="0" lang="en-US" sz="165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converting physical files into fully functional, editable digital assets in real-time.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71438" y="3887073"/>
            <a:ext cx="112491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Project 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71488" y="4291248"/>
            <a:ext cx="11249100" cy="11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2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Inter Black"/>
                <a:ea typeface="Inter Black"/>
                <a:cs typeface="Inter Black"/>
                <a:sym typeface="Inter Black"/>
              </a:rPr>
              <a:t>Viraj Patel</a:t>
            </a:r>
            <a:r>
              <a:rPr b="1" i="0" lang="en-US" sz="16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(202611047)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2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Inter Black"/>
                <a:ea typeface="Inter Black"/>
                <a:cs typeface="Inter Black"/>
                <a:sym typeface="Inter Black"/>
              </a:rPr>
              <a:t>Neel Prajapati</a:t>
            </a:r>
            <a:r>
              <a:rPr b="1" i="0" lang="en-US" sz="16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(202611022)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2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Inter Black"/>
                <a:ea typeface="Inter Black"/>
                <a:cs typeface="Inter Black"/>
                <a:sym typeface="Inter Black"/>
              </a:rPr>
              <a:t>Rushabh Shah</a:t>
            </a:r>
            <a:r>
              <a:rPr b="1" i="0" lang="en-US" sz="16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(202611054)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333375" y="378172"/>
            <a:ext cx="11525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Introduction &amp; Core Problem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333375" y="1038969"/>
            <a:ext cx="11525250" cy="286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Traditional Scanning vs. LiveDoc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476250" y="3309938"/>
            <a:ext cx="5524500" cy="1862138"/>
          </a:xfrm>
          <a:prstGeom prst="rect">
            <a:avLst/>
          </a:prstGeom>
          <a:solidFill>
            <a:srgbClr val="FFD9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762000" y="3806726"/>
            <a:ext cx="5238750" cy="285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3333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Traditional Scanning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762000" y="4166592"/>
            <a:ext cx="5238750" cy="521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Creates static images or flat PDF documents; limited to</a:t>
            </a:r>
            <a:br>
              <a:rPr b="0" i="0" lang="en-US" sz="1500" u="none" cap="none" strike="noStrik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visual capture without semantic intelligence.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2881313" y="2952750"/>
            <a:ext cx="714375" cy="714375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FFC17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-3945d9e.png" id="32" name="Google Shape;3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58498" y="3134135"/>
            <a:ext cx="34290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/>
          <p:nvPr/>
        </p:nvSpPr>
        <p:spPr>
          <a:xfrm>
            <a:off x="6191250" y="3309938"/>
            <a:ext cx="5524500" cy="1862138"/>
          </a:xfrm>
          <a:prstGeom prst="rect">
            <a:avLst/>
          </a:prstGeom>
          <a:solidFill>
            <a:srgbClr val="FEC0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6477000" y="3806726"/>
            <a:ext cx="5238750" cy="285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3333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LiveDoc Vision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6477000" y="4166592"/>
            <a:ext cx="5238750" cy="7817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Moves beyond simple digitization to genuine document</a:t>
            </a:r>
            <a:br>
              <a:rPr b="0" i="0" lang="en-US" sz="1500" u="none" cap="none" strike="noStrik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understanding, capturing structural components like</a:t>
            </a:r>
            <a:br>
              <a:rPr b="0" i="0" lang="en-US" sz="1500" u="none" cap="none" strike="noStrik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headings, tables, diagrams, and metadata.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8596313" y="2952750"/>
            <a:ext cx="714375" cy="714375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FEA55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5ef1dd22.png" id="37" name="Google Shape;3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60953" y="3175993"/>
            <a:ext cx="371475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/>
          <p:nvPr/>
        </p:nvSpPr>
        <p:spPr>
          <a:xfrm>
            <a:off x="333375" y="378172"/>
            <a:ext cx="11525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Existing Systems vs. LiveDoc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333375" y="1038969"/>
            <a:ext cx="11525250" cy="286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Comparing traditional document workflows with intelligent digital transformation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476250" y="1743075"/>
            <a:ext cx="5572125" cy="693738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1036075" y="1631504"/>
            <a:ext cx="4452600" cy="6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1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88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Conventional Approach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476250" y="2532063"/>
            <a:ext cx="5572125" cy="2666206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onventional Approach A stack of paper documents being scanned by an old-fashioned flatbed scanner, representing traditional OCR workflows." id="48" name="Google Shape;48;p5"/>
          <p:cNvPicPr preferRelativeResize="0"/>
          <p:nvPr/>
        </p:nvPicPr>
        <p:blipFill rotWithShape="1">
          <a:blip r:embed="rId3">
            <a:alphaModFix/>
          </a:blip>
          <a:srcRect b="26076" l="0" r="0" t="26075"/>
          <a:stretch/>
        </p:blipFill>
        <p:spPr>
          <a:xfrm>
            <a:off x="476250" y="2532063"/>
            <a:ext cx="5572125" cy="2666206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5"/>
          <p:cNvSpPr/>
          <p:nvPr/>
        </p:nvSpPr>
        <p:spPr>
          <a:xfrm>
            <a:off x="476250" y="5293519"/>
            <a:ext cx="5572125" cy="108823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347663" y="5577929"/>
            <a:ext cx="5829300" cy="521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Physical Document → Image → OCR Text. Primarily focuses on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preserving the visual representation of the document.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6143625" y="1743075"/>
            <a:ext cx="5572125" cy="693738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6249625" y="1631504"/>
            <a:ext cx="5360100" cy="6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1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88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LiveDoc Proposed Approach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6143625" y="2532063"/>
            <a:ext cx="5572125" cy="2666206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iveDoc Proposed Approach A smartphone camera capturing a document in real-time, displaying a digital interface that shows LiveDoc processing data extraction." id="54" name="Google Shape;54;p5"/>
          <p:cNvPicPr preferRelativeResize="0"/>
          <p:nvPr/>
        </p:nvPicPr>
        <p:blipFill rotWithShape="1">
          <a:blip r:embed="rId4">
            <a:alphaModFix/>
          </a:blip>
          <a:srcRect b="26076" l="0" r="0" t="26075"/>
          <a:stretch/>
        </p:blipFill>
        <p:spPr>
          <a:xfrm>
            <a:off x="6143625" y="2532063"/>
            <a:ext cx="5572125" cy="2666206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5"/>
          <p:cNvSpPr/>
          <p:nvPr/>
        </p:nvSpPr>
        <p:spPr>
          <a:xfrm>
            <a:off x="6143625" y="5293519"/>
            <a:ext cx="5572125" cy="108823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6034088" y="5444579"/>
            <a:ext cx="5791200" cy="7817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Physical Document → Live Camera → Intelligent Processing →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Structured Digital Document. Seamlessly integrates capture,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extraction, and validation for immediate data utility.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"/>
          <p:cNvSpPr/>
          <p:nvPr/>
        </p:nvSpPr>
        <p:spPr>
          <a:xfrm>
            <a:off x="333375" y="378172"/>
            <a:ext cx="11525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Real-Time Camera Processing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333375" y="1038969"/>
            <a:ext cx="11525250" cy="286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Transitioning from static imaging to automated, live-feed capture for higher precision.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2762250" y="2678192"/>
            <a:ext cx="1428750" cy="1428750"/>
          </a:xfrm>
          <a:prstGeom prst="ellipse">
            <a:avLst/>
          </a:prstGeom>
          <a:solidFill>
            <a:srgbClr val="FFD9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1dfc4ca2.png" id="65" name="Google Shape;6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58501" y="3141388"/>
            <a:ext cx="638175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6"/>
          <p:cNvSpPr/>
          <p:nvPr/>
        </p:nvSpPr>
        <p:spPr>
          <a:xfrm>
            <a:off x="1619250" y="4202787"/>
            <a:ext cx="3714750" cy="263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Real-Time Checks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1500485" y="4544943"/>
            <a:ext cx="3952280" cy="7817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Instant document detection, alignment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analysis, and quality monitoring for blur or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glare.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8001000" y="2678192"/>
            <a:ext cx="1428750" cy="1428750"/>
          </a:xfrm>
          <a:prstGeom prst="ellipse">
            <a:avLst/>
          </a:prstGeom>
          <a:solidFill>
            <a:srgbClr val="FEC0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-3f847cde.png" id="69" name="Google Shape;6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395" y="3015823"/>
            <a:ext cx="733425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6"/>
          <p:cNvSpPr/>
          <p:nvPr/>
        </p:nvSpPr>
        <p:spPr>
          <a:xfrm>
            <a:off x="6700838" y="4202787"/>
            <a:ext cx="4029075" cy="263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Best Frame Selection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6563529" y="4544943"/>
            <a:ext cx="4303693" cy="521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Continuous frame evaluation and intelligent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filtering to ensure the highest-fidelity capture.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"/>
          <p:cNvSpPr/>
          <p:nvPr/>
        </p:nvSpPr>
        <p:spPr>
          <a:xfrm>
            <a:off x="333375" y="378172"/>
            <a:ext cx="11525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System Pipeline: Capture Phase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333375" y="1038969"/>
            <a:ext cx="11525250" cy="286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Key stages of the document acquisition process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-5d81009e.png" id="79" name="Google Shape;7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2765822"/>
            <a:ext cx="2038350" cy="119062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7"/>
          <p:cNvSpPr/>
          <p:nvPr/>
        </p:nvSpPr>
        <p:spPr>
          <a:xfrm>
            <a:off x="523875" y="3311575"/>
            <a:ext cx="1650950" cy="197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1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333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Live Camera Feed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762000" y="4087267"/>
            <a:ext cx="1650950" cy="1042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Streaming input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capture from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the device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sensor.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1254026" y="2527697"/>
            <a:ext cx="476250" cy="47625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108ECD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-7af75a1e.png" id="83" name="Google Shape;8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86110" y="2682105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719cd9a2.png" id="84" name="Google Shape;84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17700" y="2765822"/>
            <a:ext cx="2038350" cy="119062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7"/>
          <p:cNvSpPr/>
          <p:nvPr/>
        </p:nvSpPr>
        <p:spPr>
          <a:xfrm>
            <a:off x="2651125" y="3211562"/>
            <a:ext cx="1365200" cy="394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1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Document</a:t>
            </a:r>
            <a:br>
              <a:rPr b="1" i="0" lang="en-US" sz="13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</a:br>
            <a:r>
              <a:rPr b="1" i="0" lang="en-US" sz="13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Detection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2603500" y="4087267"/>
            <a:ext cx="1650950" cy="1302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Identifying the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document's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presence and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extent within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the frame.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3095476" y="2527697"/>
            <a:ext cx="476250" cy="47625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1979A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-5e4a18de.png" id="88" name="Google Shape;88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99655" y="2668153"/>
            <a:ext cx="2762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739e6422.png" id="89" name="Google Shape;89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159151" y="2765822"/>
            <a:ext cx="2038350" cy="11906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7"/>
          <p:cNvSpPr/>
          <p:nvPr/>
        </p:nvSpPr>
        <p:spPr>
          <a:xfrm>
            <a:off x="4492625" y="3111550"/>
            <a:ext cx="1365200" cy="592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1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Position &amp;</a:t>
            </a:r>
            <a:br>
              <a:rPr b="1" i="0" lang="en-US" sz="13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</a:br>
            <a:r>
              <a:rPr b="1" i="0" lang="en-US" sz="13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Boundary</a:t>
            </a:r>
            <a:br>
              <a:rPr b="1" i="0" lang="en-US" sz="13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</a:br>
            <a:r>
              <a:rPr b="1" i="0" lang="en-US" sz="13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Detection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4445000" y="4087267"/>
            <a:ext cx="1650950" cy="1042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Mapping corner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points and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document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geometry.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4936927" y="2527697"/>
            <a:ext cx="476250" cy="47625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15689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-77ce261e.png" id="93" name="Google Shape;93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82964" y="267373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08f30c22.png" id="94" name="Google Shape;94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000750" y="2765822"/>
            <a:ext cx="2038350" cy="119062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7"/>
          <p:cNvSpPr/>
          <p:nvPr/>
        </p:nvSpPr>
        <p:spPr>
          <a:xfrm>
            <a:off x="6334125" y="3211562"/>
            <a:ext cx="1365200" cy="394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1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Quality /</a:t>
            </a:r>
            <a:br>
              <a:rPr b="1" i="0" lang="en-US" sz="13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</a:br>
            <a:r>
              <a:rPr b="1" i="0" lang="en-US" sz="13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Stability Check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6286500" y="4087267"/>
            <a:ext cx="1682100" cy="7817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Analyzing focus,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lighting, and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motion blur.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6778526" y="2527697"/>
            <a:ext cx="476250" cy="47625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12577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-26c90fde.png" id="98" name="Google Shape;98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899449" y="2648620"/>
            <a:ext cx="23812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d9e0aa2.png" id="99" name="Google Shape;99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842200" y="2765822"/>
            <a:ext cx="2038350" cy="119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7"/>
          <p:cNvSpPr/>
          <p:nvPr/>
        </p:nvSpPr>
        <p:spPr>
          <a:xfrm>
            <a:off x="8175625" y="3211562"/>
            <a:ext cx="1365200" cy="394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1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Best Frame</a:t>
            </a:r>
            <a:br>
              <a:rPr b="1" i="0" lang="en-US" sz="13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</a:br>
            <a:r>
              <a:rPr b="1" i="0" lang="en-US" sz="13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Selection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8128000" y="4087267"/>
            <a:ext cx="1650950" cy="1042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Choosing the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optimal frame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from the stream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for clarity.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8619976" y="2527697"/>
            <a:ext cx="476250" cy="47625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E466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3987e5e2.png" id="103" name="Google Shape;103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738100" y="2648621"/>
            <a:ext cx="2286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6a772422.png" id="104" name="Google Shape;104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683651" y="2765822"/>
            <a:ext cx="2038350" cy="119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7"/>
          <p:cNvSpPr/>
          <p:nvPr/>
        </p:nvSpPr>
        <p:spPr>
          <a:xfrm>
            <a:off x="10017125" y="3211562"/>
            <a:ext cx="1365200" cy="394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1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Perspective</a:t>
            </a:r>
            <a:br>
              <a:rPr b="1" i="0" lang="en-US" sz="13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</a:br>
            <a:r>
              <a:rPr b="1" i="0" lang="en-US" sz="13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Correction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9969500" y="4087267"/>
            <a:ext cx="1650950" cy="1042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Rectifying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framing angles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to create a top-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down view.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10461427" y="2527697"/>
            <a:ext cx="476250" cy="47625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B354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531245a2.png" id="108" name="Google Shape;108;p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571186" y="2651409"/>
            <a:ext cx="266700" cy="23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"/>
          <p:cNvSpPr/>
          <p:nvPr/>
        </p:nvSpPr>
        <p:spPr>
          <a:xfrm>
            <a:off x="333375" y="378172"/>
            <a:ext cx="11525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System Pipeline: Understanding Phase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333375" y="1038969"/>
            <a:ext cx="11525250" cy="286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Key stages for document processing and data extraction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-5f89575e.png" id="116" name="Google Shape;11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2868662"/>
            <a:ext cx="2952750" cy="119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8"/>
          <p:cNvSpPr/>
          <p:nvPr/>
        </p:nvSpPr>
        <p:spPr>
          <a:xfrm>
            <a:off x="523875" y="3378875"/>
            <a:ext cx="2571750" cy="263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Image Preprocessing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762000" y="4190137"/>
            <a:ext cx="2623245" cy="1042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Optimizing document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quality, noise reduction,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and binarization for feature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extraction.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1714500" y="2630537"/>
            <a:ext cx="476250" cy="47625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108ECD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-3afa935e.png" id="120" name="Google Shape;12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32632" y="2776575"/>
            <a:ext cx="2476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-e24559e.png" id="121" name="Google Shape;12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38500" y="2868662"/>
            <a:ext cx="2952750" cy="119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8"/>
          <p:cNvSpPr/>
          <p:nvPr/>
        </p:nvSpPr>
        <p:spPr>
          <a:xfrm>
            <a:off x="3571875" y="3250287"/>
            <a:ext cx="2286000" cy="526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Document</a:t>
            </a:r>
            <a:br>
              <a:rPr b="1" i="0" lang="en-US" sz="18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</a:br>
            <a:r>
              <a:rPr b="1" i="0" lang="en-US" sz="18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Understanding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3524250" y="4190137"/>
            <a:ext cx="2691259" cy="1042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Segmenting and classifying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document components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including text, tables, and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diagrams.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4476750" y="2630537"/>
            <a:ext cx="476250" cy="47625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166E9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-5e4a18de.png" id="125" name="Google Shape;125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80929" y="2770993"/>
            <a:ext cx="2762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320b6662.png" id="126" name="Google Shape;126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00750" y="2868662"/>
            <a:ext cx="2952750" cy="119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8"/>
          <p:cNvSpPr/>
          <p:nvPr/>
        </p:nvSpPr>
        <p:spPr>
          <a:xfrm>
            <a:off x="6334125" y="3250287"/>
            <a:ext cx="2286000" cy="526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Validation &amp;</a:t>
            </a:r>
            <a:br>
              <a:rPr b="1" i="0" lang="en-US" sz="18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</a:br>
            <a:r>
              <a:rPr b="1" i="0" lang="en-US" sz="18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Verification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6286500" y="4190137"/>
            <a:ext cx="2632323" cy="1042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Ensuring accuracy through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business logic, cross-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referencing, and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confidence scoring.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7239000" y="2630537"/>
            <a:ext cx="476250" cy="47625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11517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-26c90fde.png" id="130" name="Google Shape;130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359923" y="2751460"/>
            <a:ext cx="23812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6f8889e2.png" id="131" name="Google Shape;131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763000" y="2868662"/>
            <a:ext cx="2952750" cy="119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8"/>
          <p:cNvSpPr/>
          <p:nvPr/>
        </p:nvSpPr>
        <p:spPr>
          <a:xfrm>
            <a:off x="9096375" y="3250287"/>
            <a:ext cx="2286000" cy="526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Structured Digital</a:t>
            </a:r>
            <a:br>
              <a:rPr b="1" i="0" lang="en-US" sz="18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</a:br>
            <a:r>
              <a:rPr b="1" i="0" lang="en-US" sz="18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Output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9048750" y="4190137"/>
            <a:ext cx="2659856" cy="1042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Converting validated data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into machine-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understandable formats for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downstream integration.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10001250" y="2630537"/>
            <a:ext cx="476250" cy="47625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B354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-1b35a71e.png" id="135" name="Google Shape;135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136125" y="2779365"/>
            <a:ext cx="2095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"/>
          <p:cNvSpPr/>
          <p:nvPr/>
        </p:nvSpPr>
        <p:spPr>
          <a:xfrm>
            <a:off x="333375" y="378172"/>
            <a:ext cx="11525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Validation and Verification Principle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333375" y="1038969"/>
            <a:ext cx="11525250" cy="286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Moving beyond basic OCR for high-fidelity data capture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2762250" y="2473404"/>
            <a:ext cx="1428750" cy="1428750"/>
          </a:xfrm>
          <a:prstGeom prst="ellipse">
            <a:avLst/>
          </a:prstGeom>
          <a:solidFill>
            <a:srgbClr val="FFD9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-3de3189e.png" id="144" name="Google Shape;14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74788" y="2894742"/>
            <a:ext cx="819150" cy="5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9"/>
          <p:cNvSpPr/>
          <p:nvPr/>
        </p:nvSpPr>
        <p:spPr>
          <a:xfrm>
            <a:off x="1485900" y="3998000"/>
            <a:ext cx="3981450" cy="263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Beyond OCR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1354619" y="4340156"/>
            <a:ext cx="4244013" cy="521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Distinguishing between technical OCR errors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and genuine data inconsistencies.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8001000" y="2473404"/>
            <a:ext cx="1428750" cy="1428750"/>
          </a:xfrm>
          <a:prstGeom prst="ellipse">
            <a:avLst/>
          </a:prstGeom>
          <a:solidFill>
            <a:srgbClr val="FEC0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6dbe74a2.png" id="148" name="Google Shape;14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89330" y="2852883"/>
            <a:ext cx="457200" cy="67627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9"/>
          <p:cNvSpPr/>
          <p:nvPr/>
        </p:nvSpPr>
        <p:spPr>
          <a:xfrm>
            <a:off x="6691313" y="3998000"/>
            <a:ext cx="4048125" cy="263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Extraction Lifecycle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6556177" y="4340156"/>
            <a:ext cx="4318397" cy="521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A systematic workflow: Extract, Validate, Flag,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Preserve, and Authorized Correction.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0" y="6134100"/>
            <a:ext cx="12192000" cy="7239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"/>
          <p:cNvSpPr/>
          <p:nvPr/>
        </p:nvSpPr>
        <p:spPr>
          <a:xfrm>
            <a:off x="2733675" y="6376690"/>
            <a:ext cx="6724650" cy="2413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2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Ensures the absolute integrity and auditability of original documentation.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"/>
          <p:cNvSpPr/>
          <p:nvPr/>
        </p:nvSpPr>
        <p:spPr>
          <a:xfrm>
            <a:off x="333375" y="378172"/>
            <a:ext cx="11525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Validation Techniques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333375" y="1038969"/>
            <a:ext cx="11525250" cy="286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Multi-layered verification processes to ensure data accuracy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0"/>
          <p:cNvSpPr/>
          <p:nvPr/>
        </p:nvSpPr>
        <p:spPr>
          <a:xfrm>
            <a:off x="476250" y="2100263"/>
            <a:ext cx="3619500" cy="1914525"/>
          </a:xfrm>
          <a:prstGeom prst="rect">
            <a:avLst/>
          </a:prstGeom>
          <a:solidFill>
            <a:srgbClr val="FFD9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0"/>
          <p:cNvSpPr/>
          <p:nvPr/>
        </p:nvSpPr>
        <p:spPr>
          <a:xfrm>
            <a:off x="762000" y="2597051"/>
            <a:ext cx="3333750" cy="285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3333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OCR Confidence Tracking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762000" y="2956917"/>
            <a:ext cx="3333750" cy="7817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Monitors character recognition</a:t>
            </a:r>
            <a:br>
              <a:rPr b="0" i="0" lang="en-US" sz="1500" u="none" cap="none" strike="noStrik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scores to flag potential extraction</a:t>
            </a:r>
            <a:br>
              <a:rPr b="0" i="0" lang="en-US" sz="1500" u="none" cap="none" strike="noStrik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errors.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0"/>
          <p:cNvSpPr/>
          <p:nvPr/>
        </p:nvSpPr>
        <p:spPr>
          <a:xfrm>
            <a:off x="1928813" y="1743075"/>
            <a:ext cx="714375" cy="714375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FFC17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-44db591e.png" id="164" name="Google Shape;16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5082" y="1953759"/>
            <a:ext cx="409575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0"/>
          <p:cNvSpPr/>
          <p:nvPr/>
        </p:nvSpPr>
        <p:spPr>
          <a:xfrm>
            <a:off x="4286250" y="2100263"/>
            <a:ext cx="3619500" cy="1914525"/>
          </a:xfrm>
          <a:prstGeom prst="rect">
            <a:avLst/>
          </a:prstGeom>
          <a:solidFill>
            <a:srgbClr val="FEC0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0"/>
          <p:cNvSpPr/>
          <p:nvPr/>
        </p:nvSpPr>
        <p:spPr>
          <a:xfrm>
            <a:off x="4572000" y="2597051"/>
            <a:ext cx="3333750" cy="285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3333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Format Validation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4572000" y="2956917"/>
            <a:ext cx="3416052" cy="7817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Enforces strict structures for critical</a:t>
            </a:r>
            <a:br>
              <a:rPr b="0" i="0" lang="en-US" sz="1500" u="none" cap="none" strike="noStrik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data like dates, IDs, and email</a:t>
            </a:r>
            <a:br>
              <a:rPr b="0" i="0" lang="en-US" sz="1500" u="none" cap="none" strike="noStrik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addresses.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5738813" y="1743075"/>
            <a:ext cx="714375" cy="714375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FEA55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-3945d9e.png" id="169" name="Google Shape;16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15998" y="1924460"/>
            <a:ext cx="34290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/>
          <p:nvPr/>
        </p:nvSpPr>
        <p:spPr>
          <a:xfrm>
            <a:off x="8096250" y="2100263"/>
            <a:ext cx="3619500" cy="1914525"/>
          </a:xfrm>
          <a:prstGeom prst="rect">
            <a:avLst/>
          </a:prstGeom>
          <a:solidFill>
            <a:srgbClr val="FD86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0"/>
          <p:cNvSpPr/>
          <p:nvPr/>
        </p:nvSpPr>
        <p:spPr>
          <a:xfrm>
            <a:off x="8382000" y="2597051"/>
            <a:ext cx="3333750" cy="285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3333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Data-Type Validation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8382000" y="2956917"/>
            <a:ext cx="3333750" cy="7817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Ensures inputs match expected</a:t>
            </a:r>
            <a:br>
              <a:rPr b="0" i="0" lang="en-US" sz="1500" u="none" cap="none" strike="noStrik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formats, distinguishing between</a:t>
            </a:r>
            <a:br>
              <a:rPr b="0" i="0" lang="en-US" sz="1500" u="none" cap="none" strike="noStrik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numeric and text strings.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9548813" y="1743075"/>
            <a:ext cx="714375" cy="714375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FC641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-124c0a1e.png" id="174" name="Google Shape;174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26011" y="1995615"/>
            <a:ext cx="3619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0"/>
          <p:cNvSpPr/>
          <p:nvPr/>
        </p:nvSpPr>
        <p:spPr>
          <a:xfrm>
            <a:off x="476250" y="4467225"/>
            <a:ext cx="5524500" cy="1914525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0"/>
          <p:cNvSpPr/>
          <p:nvPr/>
        </p:nvSpPr>
        <p:spPr>
          <a:xfrm>
            <a:off x="762000" y="4964013"/>
            <a:ext cx="5238750" cy="285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3333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Cross-Field Validation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762000" y="5323880"/>
            <a:ext cx="5567958" cy="521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Performs logical consistency checks, such as mathematical</a:t>
            </a:r>
            <a:br>
              <a:rPr b="0" i="0" lang="en-US" sz="1500" u="none" cap="none" strike="noStrik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verification of totals.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2881313" y="4110038"/>
            <a:ext cx="714375" cy="714375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CC66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57b62862.png" id="179" name="Google Shape;179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00368" y="4287238"/>
            <a:ext cx="276225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0"/>
          <p:cNvSpPr/>
          <p:nvPr/>
        </p:nvSpPr>
        <p:spPr>
          <a:xfrm>
            <a:off x="6191250" y="4467225"/>
            <a:ext cx="5524500" cy="1914525"/>
          </a:xfrm>
          <a:prstGeom prst="rect">
            <a:avLst/>
          </a:prstGeom>
          <a:solidFill>
            <a:srgbClr val="FF79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0"/>
          <p:cNvSpPr/>
          <p:nvPr/>
        </p:nvSpPr>
        <p:spPr>
          <a:xfrm>
            <a:off x="6477000" y="4964013"/>
            <a:ext cx="5238750" cy="285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3333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Table Consistency Analysis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6477000" y="5323880"/>
            <a:ext cx="5238750" cy="521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Validates the structural integrity of extracted grid and</a:t>
            </a:r>
            <a:br>
              <a:rPr b="0" i="0" lang="en-US" sz="1500" u="none" cap="none" strike="noStrik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tabular data.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8596313" y="4110038"/>
            <a:ext cx="714375" cy="714375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FF46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-3945d9e.png" id="184" name="Google Shape;18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3498" y="4291423"/>
            <a:ext cx="342900" cy="33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"/>
          <p:cNvSpPr/>
          <p:nvPr/>
        </p:nvSpPr>
        <p:spPr>
          <a:xfrm>
            <a:off x="333375" y="378172"/>
            <a:ext cx="11525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Separation of Responsibilities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333375" y="1038969"/>
            <a:ext cx="11525250" cy="286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A modular approach to document processing architecture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-5d81009e.png" id="192" name="Google Shape;19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2868662"/>
            <a:ext cx="2038350" cy="119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1"/>
          <p:cNvSpPr/>
          <p:nvPr/>
        </p:nvSpPr>
        <p:spPr>
          <a:xfrm>
            <a:off x="523875" y="3378875"/>
            <a:ext cx="1650950" cy="263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Camera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762000" y="4190137"/>
            <a:ext cx="1650950" cy="7817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Captures raw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visual input of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the document.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1254026" y="2630537"/>
            <a:ext cx="476250" cy="47625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108ECD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-7af75a1e.png" id="196" name="Google Shape;19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86110" y="2784946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719cd9a2.png" id="197" name="Google Shape;197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17700" y="2868662"/>
            <a:ext cx="2038350" cy="119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1"/>
          <p:cNvSpPr/>
          <p:nvPr/>
        </p:nvSpPr>
        <p:spPr>
          <a:xfrm>
            <a:off x="2651125" y="3250287"/>
            <a:ext cx="1365200" cy="526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Computer</a:t>
            </a:r>
            <a:br>
              <a:rPr b="1" i="0" lang="en-US" sz="18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</a:br>
            <a:r>
              <a:rPr b="1" i="0" lang="en-US" sz="18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Vision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2603500" y="4190137"/>
            <a:ext cx="1650950" cy="1042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Performs object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detection and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geometric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alignment.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3095476" y="2630537"/>
            <a:ext cx="476250" cy="47625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1979A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03657022.png" id="201" name="Google Shape;201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16399" y="2793317"/>
            <a:ext cx="23812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739e6422.png" id="202" name="Google Shape;202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159151" y="2868662"/>
            <a:ext cx="2038350" cy="119062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1"/>
          <p:cNvSpPr/>
          <p:nvPr/>
        </p:nvSpPr>
        <p:spPr>
          <a:xfrm>
            <a:off x="4492625" y="3250287"/>
            <a:ext cx="1365200" cy="526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Document</a:t>
            </a:r>
            <a:br>
              <a:rPr b="1" i="0" lang="en-US" sz="18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</a:br>
            <a:r>
              <a:rPr b="1" i="0" lang="en-US" sz="18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Processing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4445000" y="4190137"/>
            <a:ext cx="1650950" cy="1042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Applies image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enhancement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and noise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reduction.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4936927" y="2630537"/>
            <a:ext cx="476250" cy="47625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15689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3987e5e2.png" id="206" name="Google Shape;206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55050" y="2751461"/>
            <a:ext cx="2286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08f30c22.png" id="207" name="Google Shape;207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000750" y="2868662"/>
            <a:ext cx="2038350" cy="119062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1"/>
          <p:cNvSpPr/>
          <p:nvPr/>
        </p:nvSpPr>
        <p:spPr>
          <a:xfrm>
            <a:off x="6334125" y="3250287"/>
            <a:ext cx="1365200" cy="526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Document</a:t>
            </a:r>
            <a:br>
              <a:rPr b="1" i="0" lang="en-US" sz="18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</a:br>
            <a:r>
              <a:rPr b="1" i="0" lang="en-US" sz="18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AI / OCR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6286500" y="4190137"/>
            <a:ext cx="1653823" cy="7817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Executes layout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analysis and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text recognition.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6778526" y="2630537"/>
            <a:ext cx="476250" cy="47625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12577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-28cd131e.png" id="211" name="Google Shape;211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910611" y="2762622"/>
            <a:ext cx="2190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d9e0aa2.png" id="212" name="Google Shape;212;p1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842200" y="2868662"/>
            <a:ext cx="2038350" cy="119062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1"/>
          <p:cNvSpPr/>
          <p:nvPr/>
        </p:nvSpPr>
        <p:spPr>
          <a:xfrm>
            <a:off x="8175625" y="3378875"/>
            <a:ext cx="1365200" cy="263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Validation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8128000" y="4190137"/>
            <a:ext cx="1685077" cy="1042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Applies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business logic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and data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integrity checks.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8619976" y="2630537"/>
            <a:ext cx="476250" cy="47625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E466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73ebd522.png" id="216" name="Google Shape;216;p1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763225" y="2757040"/>
            <a:ext cx="1905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6a772422.png" id="217" name="Google Shape;217;p1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683651" y="2868662"/>
            <a:ext cx="2038350" cy="119062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1"/>
          <p:cNvSpPr/>
          <p:nvPr/>
        </p:nvSpPr>
        <p:spPr>
          <a:xfrm>
            <a:off x="10017125" y="3378875"/>
            <a:ext cx="1365200" cy="263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Output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9969500" y="4190137"/>
            <a:ext cx="1650950" cy="7817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Generates the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final structured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data format.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10461427" y="2630537"/>
            <a:ext cx="476250" cy="47625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B354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-4c2de0de.png" id="221" name="Google Shape;221;p1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593512" y="2768204"/>
            <a:ext cx="219075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"/>
          <p:cNvSpPr/>
          <p:nvPr/>
        </p:nvSpPr>
        <p:spPr>
          <a:xfrm>
            <a:off x="333375" y="378172"/>
            <a:ext cx="11525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Basic Technology Stack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2"/>
          <p:cNvSpPr/>
          <p:nvPr/>
        </p:nvSpPr>
        <p:spPr>
          <a:xfrm>
            <a:off x="333375" y="1038969"/>
            <a:ext cx="11525250" cy="286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Core infrastructure optimized for computer vision and data extraction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952500" y="2506563"/>
            <a:ext cx="5238750" cy="3118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1300" lvl="0" marL="241300" marR="0" rtl="0" algn="l">
              <a:lnSpc>
                <a:spcPct val="115179"/>
              </a:lnSpc>
              <a:spcBef>
                <a:spcPts val="0"/>
              </a:spcBef>
              <a:spcAft>
                <a:spcPts val="0"/>
              </a:spcAft>
              <a:buClr>
                <a:srgbClr val="22AAEE"/>
              </a:buClr>
              <a:buSzPts val="2340"/>
              <a:buFont typeface="Inter SemiBold"/>
              <a:buChar char="•"/>
            </a:pPr>
            <a:r>
              <a:rPr b="1" i="0" lang="en-US" sz="19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Python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241300" marR="0" rtl="0" algn="l">
              <a:lnSpc>
                <a:spcPct val="136800"/>
              </a:lnSpc>
              <a:spcBef>
                <a:spcPts val="43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Inter Medium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Primary development language for backend logic and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workflow orchestration.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241300" marR="0" rtl="0" algn="l">
              <a:lnSpc>
                <a:spcPct val="115179"/>
              </a:lnSpc>
              <a:spcBef>
                <a:spcPts val="2055"/>
              </a:spcBef>
              <a:spcAft>
                <a:spcPts val="0"/>
              </a:spcAft>
              <a:buClr>
                <a:srgbClr val="22AAEE"/>
              </a:buClr>
              <a:buSzPts val="2340"/>
              <a:buFont typeface="Inter SemiBold"/>
              <a:buChar char="•"/>
            </a:pPr>
            <a:r>
              <a:rPr b="1" i="0" lang="en-US" sz="19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OpenCV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241300" marR="0" rtl="0" algn="l">
              <a:lnSpc>
                <a:spcPct val="136800"/>
              </a:lnSpc>
              <a:spcBef>
                <a:spcPts val="43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Inter Medium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Advanced library utilized for camera interaction and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geometric image processing.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241300" marR="0" rtl="0" algn="l">
              <a:lnSpc>
                <a:spcPct val="115179"/>
              </a:lnSpc>
              <a:spcBef>
                <a:spcPts val="2055"/>
              </a:spcBef>
              <a:spcAft>
                <a:spcPts val="0"/>
              </a:spcAft>
              <a:buClr>
                <a:srgbClr val="22AAEE"/>
              </a:buClr>
              <a:buSzPts val="2340"/>
              <a:buFont typeface="Inter SemiBold"/>
              <a:buChar char="•"/>
            </a:pPr>
            <a:r>
              <a:rPr b="1" i="0" lang="en-US" sz="19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NumPy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241300" marR="0" rtl="0" algn="l">
              <a:lnSpc>
                <a:spcPct val="136800"/>
              </a:lnSpc>
              <a:spcBef>
                <a:spcPts val="43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Inter Medium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Essential framework enabling high-performance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numerical operations and data analysis.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6286500" y="2506563"/>
            <a:ext cx="5274766" cy="1990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1300" lvl="0" marL="241300" marR="0" rtl="0" algn="l">
              <a:lnSpc>
                <a:spcPct val="115179"/>
              </a:lnSpc>
              <a:spcBef>
                <a:spcPts val="0"/>
              </a:spcBef>
              <a:spcAft>
                <a:spcPts val="0"/>
              </a:spcAft>
              <a:buClr>
                <a:srgbClr val="22AAEE"/>
              </a:buClr>
              <a:buSzPts val="2340"/>
              <a:buFont typeface="Inter SemiBold"/>
              <a:buChar char="•"/>
            </a:pPr>
            <a:r>
              <a:rPr b="1" i="0" lang="en-US" sz="19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Document AI &amp; OCR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241300" marR="0" rtl="0" algn="l">
              <a:lnSpc>
                <a:spcPct val="136800"/>
              </a:lnSpc>
              <a:spcBef>
                <a:spcPts val="43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Inter Medium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Specialized engines designed for industry-standard text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recognition and extraction.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241300" marR="0" rtl="0" algn="l">
              <a:lnSpc>
                <a:spcPct val="115179"/>
              </a:lnSpc>
              <a:spcBef>
                <a:spcPts val="2055"/>
              </a:spcBef>
              <a:spcAft>
                <a:spcPts val="0"/>
              </a:spcAft>
              <a:buClr>
                <a:srgbClr val="22AAEE"/>
              </a:buClr>
              <a:buSzPts val="2340"/>
              <a:buFont typeface="Inter SemiBold"/>
              <a:buChar char="•"/>
            </a:pPr>
            <a:r>
              <a:rPr b="1" i="0" lang="en-US" sz="19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PDF / JSON Libraries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241300" marR="0" rtl="0" algn="l">
              <a:lnSpc>
                <a:spcPct val="136800"/>
              </a:lnSpc>
              <a:spcBef>
                <a:spcPts val="43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Inter Medium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Reliable tools for generating structured document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formats and standardized data outputs.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3"/>
          <p:cNvSpPr/>
          <p:nvPr/>
        </p:nvSpPr>
        <p:spPr>
          <a:xfrm>
            <a:off x="333375" y="378172"/>
            <a:ext cx="11525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Structured Output Representation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3"/>
          <p:cNvSpPr/>
          <p:nvPr/>
        </p:nvSpPr>
        <p:spPr>
          <a:xfrm>
            <a:off x="333375" y="1038969"/>
            <a:ext cx="11525250" cy="286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Ensuring semantic integrity for downstream automation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3"/>
          <p:cNvSpPr/>
          <p:nvPr/>
        </p:nvSpPr>
        <p:spPr>
          <a:xfrm>
            <a:off x="952500" y="2768501"/>
            <a:ext cx="5274022" cy="25973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1300" lvl="0" marL="241300" marR="0" rtl="0" algn="l">
              <a:lnSpc>
                <a:spcPct val="115179"/>
              </a:lnSpc>
              <a:spcBef>
                <a:spcPts val="0"/>
              </a:spcBef>
              <a:spcAft>
                <a:spcPts val="0"/>
              </a:spcAft>
              <a:buClr>
                <a:srgbClr val="22AAEE"/>
              </a:buClr>
              <a:buSzPts val="2340"/>
              <a:buFont typeface="Inter SemiBold"/>
              <a:buChar char="•"/>
            </a:pPr>
            <a:r>
              <a:rPr b="1" i="0" lang="en-US" sz="19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Metadata &amp; Title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241300" marR="0" rtl="0" algn="l">
              <a:lnSpc>
                <a:spcPct val="136800"/>
              </a:lnSpc>
              <a:spcBef>
                <a:spcPts val="43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Inter Medium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Contextual identifiers used for document tracking and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indexing.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241300" marR="0" rtl="0" algn="l">
              <a:lnSpc>
                <a:spcPct val="115179"/>
              </a:lnSpc>
              <a:spcBef>
                <a:spcPts val="2055"/>
              </a:spcBef>
              <a:spcAft>
                <a:spcPts val="0"/>
              </a:spcAft>
              <a:buClr>
                <a:srgbClr val="22AAEE"/>
              </a:buClr>
              <a:buSzPts val="2340"/>
              <a:buFont typeface="Inter SemiBold"/>
              <a:buChar char="•"/>
            </a:pPr>
            <a:r>
              <a:rPr b="1" i="0" lang="en-US" sz="19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Extracted Text Blocks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241300" marR="0" rtl="0" algn="l">
              <a:lnSpc>
                <a:spcPct val="136800"/>
              </a:lnSpc>
              <a:spcBef>
                <a:spcPts val="43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Inter Medium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Segmented content preserved with semantic relevance.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241300" marR="0" rtl="0" algn="l">
              <a:lnSpc>
                <a:spcPct val="115179"/>
              </a:lnSpc>
              <a:spcBef>
                <a:spcPts val="2055"/>
              </a:spcBef>
              <a:spcAft>
                <a:spcPts val="0"/>
              </a:spcAft>
              <a:buClr>
                <a:srgbClr val="22AAEE"/>
              </a:buClr>
              <a:buSzPts val="2340"/>
              <a:buFont typeface="Inter SemiBold"/>
              <a:buChar char="•"/>
            </a:pPr>
            <a:r>
              <a:rPr b="1" i="0" lang="en-US" sz="19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Tabular Data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241300" marR="0" rtl="0" algn="l">
              <a:lnSpc>
                <a:spcPct val="136800"/>
              </a:lnSpc>
              <a:spcBef>
                <a:spcPts val="43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Inter Medium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Organized datasets formatted for analytical processing.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3"/>
          <p:cNvSpPr/>
          <p:nvPr/>
        </p:nvSpPr>
        <p:spPr>
          <a:xfrm>
            <a:off x="6286500" y="2768501"/>
            <a:ext cx="5238750" cy="1990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1300" lvl="0" marL="241300" marR="0" rtl="0" algn="l">
              <a:lnSpc>
                <a:spcPct val="115179"/>
              </a:lnSpc>
              <a:spcBef>
                <a:spcPts val="0"/>
              </a:spcBef>
              <a:spcAft>
                <a:spcPts val="0"/>
              </a:spcAft>
              <a:buClr>
                <a:srgbClr val="22AAEE"/>
              </a:buClr>
              <a:buSzPts val="2340"/>
              <a:buFont typeface="Inter SemiBold"/>
              <a:buChar char="•"/>
            </a:pPr>
            <a:r>
              <a:rPr b="1" i="0" lang="en-US" sz="19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Independent Images/Diagrams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241300" marR="0" rtl="0" algn="l">
              <a:lnSpc>
                <a:spcPct val="136800"/>
              </a:lnSpc>
              <a:spcBef>
                <a:spcPts val="43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Inter Medium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Decoupled visual assets prepared for modular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integration.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241300" marR="0" rtl="0" algn="l">
              <a:lnSpc>
                <a:spcPct val="115179"/>
              </a:lnSpc>
              <a:spcBef>
                <a:spcPts val="2055"/>
              </a:spcBef>
              <a:spcAft>
                <a:spcPts val="0"/>
              </a:spcAft>
              <a:buClr>
                <a:srgbClr val="22AAEE"/>
              </a:buClr>
              <a:buSzPts val="2340"/>
              <a:buFont typeface="Inter SemiBold"/>
              <a:buChar char="•"/>
            </a:pPr>
            <a:r>
              <a:rPr b="1" i="0" lang="en-US" sz="19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Universal Support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241300" marR="0" rtl="0" algn="l">
              <a:lnSpc>
                <a:spcPct val="136800"/>
              </a:lnSpc>
              <a:spcBef>
                <a:spcPts val="43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Inter Medium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Seamless conversion into JSON for workflows and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DOCX for professional delivery.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4"/>
          <p:cNvSpPr/>
          <p:nvPr/>
        </p:nvSpPr>
        <p:spPr>
          <a:xfrm>
            <a:off x="333375" y="378172"/>
            <a:ext cx="11525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Domain Application: Government Records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4"/>
          <p:cNvSpPr/>
          <p:nvPr/>
        </p:nvSpPr>
        <p:spPr>
          <a:xfrm>
            <a:off x="333375" y="1038969"/>
            <a:ext cx="11525250" cy="286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Transforming Public Sector Documentation through LiveDoc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4"/>
          <p:cNvSpPr/>
          <p:nvPr/>
        </p:nvSpPr>
        <p:spPr>
          <a:xfrm>
            <a:off x="476250" y="1743075"/>
            <a:ext cx="4476750" cy="463867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iveDoc logo" id="248" name="Google Shape;248;p14"/>
          <p:cNvPicPr preferRelativeResize="0"/>
          <p:nvPr/>
        </p:nvPicPr>
        <p:blipFill rotWithShape="1">
          <a:blip r:embed="rId3">
            <a:alphaModFix/>
          </a:blip>
          <a:srcRect b="0" l="1745" r="1745" t="0"/>
          <a:stretch/>
        </p:blipFill>
        <p:spPr>
          <a:xfrm>
            <a:off x="476250" y="1743075"/>
            <a:ext cx="4476750" cy="463867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4"/>
          <p:cNvSpPr/>
          <p:nvPr/>
        </p:nvSpPr>
        <p:spPr>
          <a:xfrm>
            <a:off x="5429250" y="1593526"/>
            <a:ext cx="3190800" cy="44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4950" lvl="0" marL="241300" marR="0" rtl="0" algn="l">
              <a:lnSpc>
                <a:spcPct val="115179"/>
              </a:lnSpc>
              <a:spcBef>
                <a:spcPts val="0"/>
              </a:spcBef>
              <a:spcAft>
                <a:spcPts val="0"/>
              </a:spcAft>
              <a:buClr>
                <a:srgbClr val="22AAEE"/>
              </a:buClr>
              <a:buSzPts val="2240"/>
              <a:buFont typeface="Inter SemiBold"/>
              <a:buChar char="•"/>
            </a:pPr>
            <a:r>
              <a:rPr b="1" i="0" lang="en-US" sz="18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Official Documentation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241300" marR="0" rtl="0" algn="l">
              <a:lnSpc>
                <a:spcPct val="136800"/>
              </a:lnSpc>
              <a:spcBef>
                <a:spcPts val="43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Inter Medium"/>
              <a:buNone/>
            </a:pPr>
            <a:r>
              <a:rPr b="0" i="0" lang="en-US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Streamlining the processing of</a:t>
            </a:r>
            <a:br>
              <a:rPr b="0" i="0" lang="en-US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vital records like birth, marriage,</a:t>
            </a:r>
            <a:br>
              <a:rPr b="0" i="0" lang="en-US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and death certificates.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241300" marR="0" rtl="0" algn="l">
              <a:lnSpc>
                <a:spcPct val="115179"/>
              </a:lnSpc>
              <a:spcBef>
                <a:spcPts val="2055"/>
              </a:spcBef>
              <a:spcAft>
                <a:spcPts val="0"/>
              </a:spcAft>
              <a:buClr>
                <a:srgbClr val="22AAEE"/>
              </a:buClr>
              <a:buSzPts val="2240"/>
              <a:buFont typeface="Inter SemiBold"/>
              <a:buChar char="•"/>
            </a:pPr>
            <a:r>
              <a:rPr b="1" i="0" lang="en-US" sz="18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Administrative Forms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241300" marR="0" rtl="0" algn="l">
              <a:lnSpc>
                <a:spcPct val="136800"/>
              </a:lnSpc>
              <a:spcBef>
                <a:spcPts val="43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Inter Medium"/>
              <a:buNone/>
            </a:pPr>
            <a:r>
              <a:rPr b="0" i="0" lang="en-US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Automated intake and</a:t>
            </a:r>
            <a:br>
              <a:rPr b="0" i="0" lang="en-US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digitization for complex</a:t>
            </a:r>
            <a:br>
              <a:rPr b="0" i="0" lang="en-US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government application</a:t>
            </a:r>
            <a:br>
              <a:rPr b="0" i="0" lang="en-US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workflows.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241300" marR="0" rtl="0" algn="l">
              <a:lnSpc>
                <a:spcPct val="115179"/>
              </a:lnSpc>
              <a:spcBef>
                <a:spcPts val="2055"/>
              </a:spcBef>
              <a:spcAft>
                <a:spcPts val="0"/>
              </a:spcAft>
              <a:buClr>
                <a:srgbClr val="22AAEE"/>
              </a:buClr>
              <a:buSzPts val="2240"/>
              <a:buFont typeface="Inter SemiBold"/>
              <a:buChar char="•"/>
            </a:pPr>
            <a:r>
              <a:rPr b="1" i="0" lang="en-US" sz="18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Archive Management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241300" marR="0" rtl="0" algn="l">
              <a:lnSpc>
                <a:spcPct val="136800"/>
              </a:lnSpc>
              <a:spcBef>
                <a:spcPts val="43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Inter Medium"/>
              <a:buNone/>
            </a:pPr>
            <a:r>
              <a:rPr b="0" i="0" lang="en-US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Converting historical paper</a:t>
            </a:r>
            <a:br>
              <a:rPr b="0" i="0" lang="en-US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records into structured,</a:t>
            </a:r>
            <a:br>
              <a:rPr b="0" i="0" lang="en-US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searchable digital databases.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4"/>
          <p:cNvSpPr/>
          <p:nvPr/>
        </p:nvSpPr>
        <p:spPr>
          <a:xfrm>
            <a:off x="8715375" y="1593525"/>
            <a:ext cx="3108300" cy="39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4950" lvl="0" marL="241300" marR="0" rtl="0" algn="l">
              <a:lnSpc>
                <a:spcPct val="115179"/>
              </a:lnSpc>
              <a:spcBef>
                <a:spcPts val="0"/>
              </a:spcBef>
              <a:spcAft>
                <a:spcPts val="0"/>
              </a:spcAft>
              <a:buClr>
                <a:srgbClr val="22AAEE"/>
              </a:buClr>
              <a:buSzPts val="2240"/>
              <a:buFont typeface="Inter SemiBold"/>
              <a:buChar char="•"/>
            </a:pPr>
            <a:r>
              <a:rPr b="1" i="0" lang="en-US" sz="18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High Accuracy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241300" marR="0" rtl="0" algn="l">
              <a:lnSpc>
                <a:spcPct val="136800"/>
              </a:lnSpc>
              <a:spcBef>
                <a:spcPts val="43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Inter Medium"/>
              <a:buNone/>
            </a:pPr>
            <a:r>
              <a:rPr b="0" i="0" lang="en-US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Precision-engineered</a:t>
            </a:r>
            <a:br>
              <a:rPr b="0" i="0" lang="en-US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specifically for the rigorous</a:t>
            </a:r>
            <a:br>
              <a:rPr b="0" i="0" lang="en-US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demands of official government</a:t>
            </a:r>
            <a:br>
              <a:rPr b="0" i="0" lang="en-US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archives.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241300" marR="0" rtl="0" algn="l">
              <a:lnSpc>
                <a:spcPct val="115179"/>
              </a:lnSpc>
              <a:spcBef>
                <a:spcPts val="2055"/>
              </a:spcBef>
              <a:spcAft>
                <a:spcPts val="0"/>
              </a:spcAft>
              <a:buClr>
                <a:srgbClr val="22AAEE"/>
              </a:buClr>
              <a:buSzPts val="2240"/>
              <a:buFont typeface="Inter SemiBold"/>
              <a:buChar char="•"/>
            </a:pPr>
            <a:r>
              <a:rPr b="1" i="0" lang="en-US" sz="18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Data Integrity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241300" marR="0" rtl="0" algn="l">
              <a:lnSpc>
                <a:spcPct val="136800"/>
              </a:lnSpc>
              <a:spcBef>
                <a:spcPts val="43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Inter Medium"/>
              <a:buNone/>
            </a:pPr>
            <a:r>
              <a:rPr b="0" i="0" lang="en-US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Built-in validation layers</a:t>
            </a:r>
            <a:br>
              <a:rPr b="0" i="0" lang="en-US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ensuring consistency and</a:t>
            </a:r>
            <a:br>
              <a:rPr b="0" i="0" lang="en-US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reliability for sensitive public</a:t>
            </a:r>
            <a:br>
              <a:rPr b="0" i="0" lang="en-US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data.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241300" marR="0" rtl="0" algn="l">
              <a:lnSpc>
                <a:spcPct val="115179"/>
              </a:lnSpc>
              <a:spcBef>
                <a:spcPts val="2055"/>
              </a:spcBef>
              <a:spcAft>
                <a:spcPts val="0"/>
              </a:spcAft>
              <a:buClr>
                <a:srgbClr val="22AAEE"/>
              </a:buClr>
              <a:buSzPts val="2240"/>
              <a:buFont typeface="Inter SemiBold"/>
              <a:buChar char="•"/>
            </a:pPr>
            <a:r>
              <a:rPr b="1" i="0" lang="en-US" sz="18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Searchable Accessibility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241300" marR="0" rtl="0" algn="l">
              <a:lnSpc>
                <a:spcPct val="136800"/>
              </a:lnSpc>
              <a:spcBef>
                <a:spcPts val="43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Inter Medium"/>
              <a:buNone/>
            </a:pPr>
            <a:r>
              <a:rPr b="0" i="0" lang="en-US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Indexing content for rapid</a:t>
            </a:r>
            <a:br>
              <a:rPr b="0" i="0" lang="en-US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retrieval while preserving</a:t>
            </a:r>
            <a:br>
              <a:rPr b="0" i="0" lang="en-US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en-US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original document values.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39CE5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39CE5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